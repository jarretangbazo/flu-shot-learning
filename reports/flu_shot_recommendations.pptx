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6" d="100"/>
          <a:sy n="166" d="100"/>
        </p:scale>
        <p:origin x="184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0878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Should Campaign</a:t>
            </a:r>
            <a:endParaRPr lang="en-US" sz="3800" dirty="0"/>
          </a:p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Resources Go and Why?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Jarret Angbazo</a:t>
            </a:r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583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595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Bottom Line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Physician recommendation is the highest-leverage intervention.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Concentrate resources on clinical workflow, not mass advertising.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20040" y="1965960"/>
            <a:ext cx="2560320" cy="22860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0040" y="2075688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2E0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79%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20040" y="31546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NOT get H1N1 vaccine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" y="3703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26,707 respondents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1965960"/>
            <a:ext cx="2560320" cy="22860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2075688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2E0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#1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291840" y="31546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 of vaccination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91840" y="3703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recommendation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63640" y="1965960"/>
            <a:ext cx="2560320" cy="22860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63640" y="2075688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2E0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10pp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263640" y="31546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uptake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63640" y="3703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among opinion non-responders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583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595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 with Broadcast Campaigns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3931920" cy="3566160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84124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Broadcast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1298448"/>
            <a:ext cx="3566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message to everyone
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spread evenly
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people who would have vaccinated anyway
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return on spend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892040" y="822960"/>
            <a:ext cx="3931920" cy="35661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84124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2E0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Targeted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74920" y="1298448"/>
            <a:ext cx="3566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go to likely non-vaccinators
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matched to hesitancy type
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Physician-driven outreach for highest-risk patients
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conversion per dollar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169664" y="2286000"/>
            <a:ext cx="640080" cy="64008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9664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583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595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Predicts Whether Someone Gets Vaccinated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20040" y="80467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recommendation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926080" y="804672"/>
            <a:ext cx="5303520" cy="32918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26080" y="804672"/>
            <a:ext cx="4879238" cy="32918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78470" y="84124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0040" y="1298448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Perceived vaccine efficacy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926080" y="1298448"/>
            <a:ext cx="5303520" cy="32918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26080" y="1298448"/>
            <a:ext cx="3818534" cy="329184"/>
          </a:xfrm>
          <a:prstGeom prst="rect">
            <a:avLst/>
          </a:prstGeom>
          <a:solidFill>
            <a:srgbClr val="14A098"/>
          </a:solidFill>
          <a:ln w="12700">
            <a:solidFill>
              <a:srgbClr val="14A09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1792224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Perceived personal risk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926080" y="1792224"/>
            <a:ext cx="5303520" cy="32918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26080" y="1792224"/>
            <a:ext cx="3606394" cy="329184"/>
          </a:xfrm>
          <a:prstGeom prst="rect">
            <a:avLst/>
          </a:prstGeom>
          <a:solidFill>
            <a:srgbClr val="14A098"/>
          </a:solidFill>
          <a:ln w="12700">
            <a:solidFill>
              <a:srgbClr val="14A0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228600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group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26080" y="2286000"/>
            <a:ext cx="5303520" cy="32918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26080" y="2286000"/>
            <a:ext cx="2227478" cy="329184"/>
          </a:xfrm>
          <a:prstGeom prst="rect">
            <a:avLst/>
          </a:prstGeom>
          <a:solidFill>
            <a:srgbClr val="8BBCCC"/>
          </a:solidFill>
          <a:ln w="12700">
            <a:solidFill>
              <a:srgbClr val="8BB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779776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insurance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926080" y="2779776"/>
            <a:ext cx="5303520" cy="32918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26080" y="2779776"/>
            <a:ext cx="1591056" cy="329184"/>
          </a:xfrm>
          <a:prstGeom prst="rect">
            <a:avLst/>
          </a:prstGeom>
          <a:solidFill>
            <a:srgbClr val="8BBCCC"/>
          </a:solidFill>
          <a:ln w="12700">
            <a:solidFill>
              <a:srgbClr val="8BB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27355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factors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926080" y="3273552"/>
            <a:ext cx="5303520" cy="32918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26080" y="3273552"/>
            <a:ext cx="742493" cy="329184"/>
          </a:xfrm>
          <a:prstGeom prst="rect">
            <a:avLst/>
          </a:prstGeom>
          <a:solidFill>
            <a:srgbClr val="8BBCCC"/>
          </a:solidFill>
          <a:ln w="12700">
            <a:solidFill>
              <a:srgbClr val="8BB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828800" y="4617720"/>
            <a:ext cx="201168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03120" y="4608576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— Physician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06240" y="4617720"/>
            <a:ext cx="201168" cy="201168"/>
          </a:xfrm>
          <a:prstGeom prst="rect">
            <a:avLst/>
          </a:prstGeom>
          <a:solidFill>
            <a:srgbClr val="14A098"/>
          </a:solidFill>
          <a:ln w="12700">
            <a:solidFill>
              <a:srgbClr val="14A09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0560" y="4608576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— Attitudes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583680" y="4617720"/>
            <a:ext cx="201168" cy="201168"/>
          </a:xfrm>
          <a:prstGeom prst="rect">
            <a:avLst/>
          </a:prstGeom>
          <a:solidFill>
            <a:srgbClr val="8BBCCC"/>
          </a:solidFill>
          <a:ln w="12700">
            <a:solidFill>
              <a:srgbClr val="8BB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0" y="4608576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— Demographics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583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595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Priorities for Resource Allocation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1480" cy="41148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22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50392" y="804672"/>
            <a:ext cx="7909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 Engagement Programs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0392" y="1060704"/>
            <a:ext cx="7909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shows doctor recommendation is the top predictor for both H1N1 and seasonal flu. Resources directed at clinical workflow changes — EHR prompts, standing orders, annual visit reminders — have the highest expected return of any intervention.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2011680"/>
            <a:ext cx="411480" cy="411480"/>
          </a:xfrm>
          <a:prstGeom prst="ellipse">
            <a:avLst/>
          </a:prstGeom>
          <a:solidFill>
            <a:srgbClr val="14A098"/>
          </a:solidFill>
          <a:ln w="12700">
            <a:solidFill>
              <a:srgbClr val="14A09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50392" y="1993392"/>
            <a:ext cx="7909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Messaging for Attitude-Based Hesitancy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0392" y="2249424"/>
            <a:ext cx="7909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tier of non-vaccinators are skeptical about efficacy and personal risk, not about access. Credible, physician-endorsed messaging about what vaccines do reaches this group. Generic awareness campaigns will not.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3200400"/>
            <a:ext cx="411480" cy="41148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3200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50392" y="3182112"/>
            <a:ext cx="7909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Review Before Any Deployment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0392" y="3438144"/>
            <a:ext cx="7909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performs well on average can under-serve specific demographic groups. Subgroup AUC analysis must be reviewed. A targeting system that directs fewer resources to populations with least existing care access requires explicit correction.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4370832"/>
            <a:ext cx="8503920" cy="502920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4074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PRIORITIZE: General behavioral campaigns (handwashing, avoidance) show near-zero correlation with vaccination uptake in this population.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28016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 Tells Us Where to Push.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65760" y="22402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2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 recommendation dominates every other factor.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32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campaign budget belongs in the clinic, not the mailer.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technical documentation and reproducible analysis available in project repository.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6884</TotalTime>
  <Words>341</Words>
  <Application>Microsoft Macintosh PowerPoint</Application>
  <PresentationFormat>On-screen Show (16:9)</PresentationFormat>
  <Paragraphs>60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Flu Vaccination Campaign — Strategic Recommendations</dc:title>
  <dc:subject>PptxGenJS Presentation</dc:subject>
  <dc:creator>PptxGenJS</dc:creator>
  <cp:lastModifiedBy>Jarret Angbazo</cp:lastModifiedBy>
  <cp:revision>3</cp:revision>
  <dcterms:created xsi:type="dcterms:W3CDTF">2026-05-23T13:29:18Z</dcterms:created>
  <dcterms:modified xsi:type="dcterms:W3CDTF">2026-05-28T08:15:48Z</dcterms:modified>
</cp:coreProperties>
</file>