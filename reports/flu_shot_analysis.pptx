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h1n1_vaccine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doctor_recc_h1n1</c:v>
                  </c:pt>
                  <c:pt idx="1">
                    <c:v>opinion_seas_risk</c:v>
                  </c:pt>
                  <c:pt idx="2">
                    <c:v>opinion_h1n1_risk</c:v>
                  </c:pt>
                  <c:pt idx="3">
                    <c:v>doctor_recc_seasonal</c:v>
                  </c:pt>
                  <c:pt idx="4">
                    <c:v>opinion_seas_vacc_effective</c:v>
                  </c:pt>
                  <c:pt idx="5">
                    <c:v>opinion_h1n1_vacc_effective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0.394</c:v>
                </c:pt>
                <c:pt idx="1">
                  <c:v>0.259</c:v>
                </c:pt>
                <c:pt idx="2">
                  <c:v>0.323</c:v>
                </c:pt>
                <c:pt idx="3">
                  <c:v>0.21</c:v>
                </c:pt>
                <c:pt idx="4">
                  <c:v>0.179</c:v>
                </c:pt>
                <c:pt idx="5">
                  <c:v>0.269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seasonal_vaccine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doctor_recc_h1n1</c:v>
                  </c:pt>
                  <c:pt idx="1">
                    <c:v>opinion_seas_risk</c:v>
                  </c:pt>
                  <c:pt idx="2">
                    <c:v>opinion_h1n1_risk</c:v>
                  </c:pt>
                  <c:pt idx="3">
                    <c:v>doctor_recc_seasonal</c:v>
                  </c:pt>
                  <c:pt idx="4">
                    <c:v>opinion_seas_vacc_effective</c:v>
                  </c:pt>
                  <c:pt idx="5">
                    <c:v>opinion_h1n1_vacc_effective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0.199</c:v>
                </c:pt>
                <c:pt idx="1">
                  <c:v>0.39</c:v>
                </c:pt>
                <c:pt idx="2">
                  <c:v>0.217</c:v>
                </c:pt>
                <c:pt idx="3">
                  <c:v>0.369</c:v>
                </c:pt>
                <c:pt idx="4">
                  <c:v>0.362</c:v>
                </c:pt>
                <c:pt idx="5">
                  <c:v>0.205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 Shot Learning: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Findings &amp; Model Results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Feature Engineering  ·  Model Selection  ·  Evaluation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Jarret Angbazo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LightGBM Achieves Strong Discrimination on Both Targets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46888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ROC-AUC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H1N1 + Seasonal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46888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241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37560" y="18653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H1N1 AUC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 positive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46888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241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18653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 positive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971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pipeline: 02 Data Cleaning  →  03 Feature Engineering  →  04 Baseline  →  05 LightGBM (tuned)  →  06 Evaluation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01568"/>
          <a:ext cx="8503920" cy="150876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2011680"/>
                <a:gridCol w="1737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H1N1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Majority-class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(n=300)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Quality: What the EDA Surfaced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393192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2103120"/>
                <a:gridCol w="25603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in 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employment_occupation / 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missingness 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health_insurance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Missingness indicator + mode impute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income_poverty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 (refusal)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+ impute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doctor_recc_h1n1 &amp; seasonal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co-missing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shared 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columns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 — 10pp lower vacc rate when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missing_opinion_count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Feature–Target Correlations: Numeric Features (Pearson r)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777240"/>
          <a:ext cx="8503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Engineering: What Was Created and Why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06908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310896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missing_opinion_count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0–6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MNAR: 10pp lower seasonal rate when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Non-response encodes hesitancy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high_vacc_ind_occ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codes: 62% H1N1, 84% seasonal uptake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categorical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doctor_recc_both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recc features are top-2 predictors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 influence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opinion_h1n1_composite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opinion cols correlated at r=0.27–0.32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opinion dimensionality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opinion_seas_composite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opinion cols correlated at r=0.36–0.39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opinion dimensionality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behavior_composite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behavioral cols each r&lt;0.12 individually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weak signal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census_msa (DROPPED)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&lt;2pp rate spread across all 3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predictive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Why LightGBM, How It Was Tuned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LightGBM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3502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984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ordinal + binary survey features natively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653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controls H1N1 imbalance (3.71:1) without resampling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323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captures opinion × doctor interaction effects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9992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confirmed strong linear signal — LightGBM needed to demonstrably exceed 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661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distance-based models (KNN, SVM) — ordinal scales have no meaningful Euclidean distance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804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Approach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1673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13167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on h1n1 label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8653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18653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RandomizedSearchCV, 60 iterations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4140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24140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20–150 (main complexity param)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9626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min_child_samples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296265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 (regularisation)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5112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feature_fraction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351129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0.6–1.0 (column subsampling)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405993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40599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target; h1n1 uses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scale_pos_weight=3.71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What Gets Measured in Notebook 06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predictions — honest held-out estimates. Primary competition metric.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3113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31136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22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 for H1N1 (21.2% positive). Shows recall trade-off at each threshold.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21024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+ Brier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accepts probabilities — calibration matters for any downstream decision use.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84124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41248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32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28016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on 5,000-row sample. Summary, dependence plots, individual waterfall explanations.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23113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31136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22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67004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features with negative permutation AUC — candidates to drop before next iteration.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2102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21024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12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AUC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599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by age, education, race, income. Flags any group &gt;5pp below overall — fairness check.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Recommended 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344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2009 pandemic survey — hesitancy patterns have shifted since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928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industry/occupation codes are obfuscated — interpretation constrained to data signal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51176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5511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health_insurance 46% missing — residual MAR bias possible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09544"/>
            <a:ext cx="73152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2095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structure — model treats survey as cross-sectional snapshot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84064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current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4064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survey reflects pandemic-era attitudes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3852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064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feature set ablations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4064" y="2157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Sets A/B/C from 03_feature_engineering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84064" y="2587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XGBoost + LightGBM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84064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OOF blend may improve AUC 1–2pp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84064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probabilities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84064" y="3511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 if deployment targeted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 Shot Learning — Analytical Findings</dc:title>
  <dc:subject>PptxGenJS Presentation</dc:subject>
  <dc:creator>PptxGenJS</dc:creator>
  <cp:lastModifiedBy>PptxGenJS</cp:lastModifiedBy>
  <cp:revision>1</cp:revision>
  <dcterms:created xsi:type="dcterms:W3CDTF">2026-05-23T13:29:18Z</dcterms:created>
  <dcterms:modified xsi:type="dcterms:W3CDTF">2026-05-23T13:29:18Z</dcterms:modified>
</cp:coreProperties>
</file>