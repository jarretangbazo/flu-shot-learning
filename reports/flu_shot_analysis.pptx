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6" d="100"/>
          <a:sy n="166" d="100"/>
        </p:scale>
        <p:origin x="184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h1n1_vaccine</c:v>
                </c:pt>
              </c:strCache>
            </c:strRef>
          </c:tx>
          <c:spPr>
            <a:solidFill>
              <a:srgbClr val="0D7377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doctor_recc_h1n1</c:v>
                </c:pt>
                <c:pt idx="1">
                  <c:v>opinion_seas_risk</c:v>
                </c:pt>
                <c:pt idx="2">
                  <c:v>opinion_h1n1_risk</c:v>
                </c:pt>
                <c:pt idx="3">
                  <c:v>doctor_recc_seasonal</c:v>
                </c:pt>
                <c:pt idx="4">
                  <c:v>opinion_seas_vacc_effective</c:v>
                </c:pt>
                <c:pt idx="5">
                  <c:v>opinion_h1n1_vacc_effective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0.39400000000000002</c:v>
                </c:pt>
                <c:pt idx="1">
                  <c:v>0.25900000000000001</c:v>
                </c:pt>
                <c:pt idx="2">
                  <c:v>0.32300000000000001</c:v>
                </c:pt>
                <c:pt idx="3">
                  <c:v>0.21</c:v>
                </c:pt>
                <c:pt idx="4">
                  <c:v>0.17899999999999999</c:v>
                </c:pt>
                <c:pt idx="5">
                  <c:v>0.26900000000000002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ED8-0B4A-BC96-18C6A865B0B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seasonal_vaccine</c:v>
                </c:pt>
              </c:strCache>
            </c:strRef>
          </c:tx>
          <c:spPr>
            <a:solidFill>
              <a:srgbClr val="F4A261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doctor_recc_h1n1</c:v>
                </c:pt>
                <c:pt idx="1">
                  <c:v>opinion_seas_risk</c:v>
                </c:pt>
                <c:pt idx="2">
                  <c:v>opinion_h1n1_risk</c:v>
                </c:pt>
                <c:pt idx="3">
                  <c:v>doctor_recc_seasonal</c:v>
                </c:pt>
                <c:pt idx="4">
                  <c:v>opinion_seas_vacc_effective</c:v>
                </c:pt>
                <c:pt idx="5">
                  <c:v>opinion_h1n1_vacc_effective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0.19900000000000001</c:v>
                </c:pt>
                <c:pt idx="1">
                  <c:v>0.39</c:v>
                </c:pt>
                <c:pt idx="2">
                  <c:v>0.217</c:v>
                </c:pt>
                <c:pt idx="3">
                  <c:v>0.36899999999999999</c:v>
                </c:pt>
                <c:pt idx="4">
                  <c:v>0.36199999999999999</c:v>
                </c:pt>
                <c:pt idx="5">
                  <c:v>0.20499999999999999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ED8-0B4A-BC96-18C6A865B0B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8ED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4F7F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7782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412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Flu Shot Learning: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Analytical Findings &amp; Model Results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Jarret Angbazo</a:t>
            </a:r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583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595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Result: LightGBM Achieves Strong Discrimination on Both Targets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468880" cy="1828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241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2E0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0.847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57200" y="1865376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ROC-AUC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3042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H1N1 + Seasonal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7560" y="914400"/>
            <a:ext cx="2468880" cy="1828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37560" y="10241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2E0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337560" y="1865376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H1N1 AUC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23042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21.2% positive rate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914400"/>
            <a:ext cx="2468880" cy="1828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10241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2E0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0.86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217920" y="1865376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AUC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7920" y="23042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46.6% positive rate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297180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pipeline: 02 Data Cleaning  →  03 Feature Engineering  →  04 Baseline  →  05 LightGBM (tuned)  →  06 Evaluation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01568"/>
          <a:ext cx="8503920" cy="15087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H1N1 AUC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Seasonal AUC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AUC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Majority-class 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(n=300)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D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 (tuned)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~0.847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583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595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Quality: What the EDA Surfaced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804672"/>
          <a:ext cx="8046720" cy="3950208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Feature(s)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in Preprocessing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employment_occupation / industry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Structural MAR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Separate missingness indicators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health_insurance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MAR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Missingness indicator + mode impute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income_poverty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MNAR (refusal)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 + impute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doctor_recc_h1n1 &amp; seasonal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co-missing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shared indicator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Opinion columns (6)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MNAR — 10pp lower vacc rate when missing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missing_opinion_count 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583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595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Feature–Target Correlations: Numeric Features (Pearson r)</a:t>
            </a:r>
            <a:endParaRPr lang="en-US" sz="2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320040" y="777240"/>
          <a:ext cx="850392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583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595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Engineering: What Was Created and Why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804672"/>
          <a:ext cx="8138160" cy="438912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EDA Basis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Signal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missing_opinion_count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0–6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MNAR: 10pp lower seasonal rate when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Non-response encodes hesitancy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high_vacc_ind_occ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codes: 62% H1N1, 84% seasonal uptake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categorical signal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doctor_recc_both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recc features are top-2 predictors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Physician influence ceiling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opinion_h1n1_composite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opinion cols correlated at r=0.27–0.32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Reduces opinion dimensionality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opinion_seas_composite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opinion cols correlated at r=0.36–0.39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Reduces opinion dimensionality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behavior_composite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behavioral cols each r&lt;0.12 individually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Aggregates weak signal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census_msa (DROPPED)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&lt;2pp rate spread across all 3 categories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predictive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583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595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Selection: Why LightGBM, How It Was Tuned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114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80467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LightGBM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335024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9844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ordinal + binary survey features natively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1901952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1865376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scale_pos_weight controls H1N1 imbalance (3.71:1) without resampling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468880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432304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Leaf-wise growth captures opinion × doctor interaction effects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035808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299923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baseline confirmed strong linear signal — LightGBM needed to demonstrably exceed it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3602736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3566160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Avoids distance-based models (KNN, SVM) — ordinal scales have no meaningful Euclidean distance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9160" y="804672"/>
            <a:ext cx="4114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09160" y="80467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Tuning Approach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1316736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Strategy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537960" y="131673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5-fold on h1n1 label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46320" y="1865376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537960" y="18653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RandomizedSearchCV, 60 iterations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46320" y="2414016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num_leaves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537960" y="241401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20–150 (main complexity param)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846320" y="2962656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min_child_samples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37960" y="296265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10–100 (regularisation)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46320" y="3511296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feature_fraction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537960" y="351129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0.6–1.0 (column subsampling)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846320" y="4059936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models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537960" y="405993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target; h1n1 uses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scale_pos_weight=3.71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583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595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Evaluation: What Gets Measured in Notebook 06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41248"/>
            <a:ext cx="4114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41248"/>
            <a:ext cx="73152" cy="12344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9326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Curves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280160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predictions — honest held-out estimates. Primary competition metric.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2231136"/>
            <a:ext cx="4114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231136"/>
            <a:ext cx="73152" cy="12344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322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Precision-Recall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2670048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Especially important for H1N1 (21.2% positive). Shows recall trade-off at each threshold.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3621024"/>
            <a:ext cx="4114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3621024"/>
            <a:ext cx="73152" cy="12344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71246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+ Brier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4059936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accepts probabilities — calibration matters for any downstream decision use.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9160" y="841248"/>
            <a:ext cx="4114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841248"/>
            <a:ext cx="73152" cy="12344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9326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Analysis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92040" y="1280160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TreeExplainer on 5,000-row sample. Summary, dependence plots, individual waterfall explanations.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709160" y="2231136"/>
            <a:ext cx="4114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2231136"/>
            <a:ext cx="73152" cy="12344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2322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Permutation Importance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92040" y="2670048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features with negative permutation AUC. Candidates to drop before next iteration.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09160" y="3621024"/>
            <a:ext cx="4114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09160" y="3621024"/>
            <a:ext cx="73152" cy="12344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92040" y="371246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Subgroup AUC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92040" y="4059936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by age, education, race, income. Flags any group &gt;5pp below overall — fairness check.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583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595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Recommended 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20040" y="80467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Known Limitations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73152" cy="5120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1234440"/>
            <a:ext cx="3749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 is 2009 pandemic survey. Hesitancy patterns have shifted since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" y="1892808"/>
            <a:ext cx="73152" cy="5120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1892808"/>
            <a:ext cx="3749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 industry/occupation codes are obfuscated. Interpretation constrained to data signal only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" y="2551176"/>
            <a:ext cx="73152" cy="5120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" y="2551176"/>
            <a:ext cx="3749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health_insurance 46% missing. Residual MAR bias possible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040" y="3209544"/>
            <a:ext cx="73152" cy="5120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" y="3209544"/>
            <a:ext cx="3749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temporal structure. Model treats survey as cross-sectional snapshot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09160" y="80467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Next Steps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09160" y="1261872"/>
            <a:ext cx="256032" cy="256032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12618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84064" y="12344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on current data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84064" y="14813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2009 survey reflects pandemic-era attitudes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09160" y="1938528"/>
            <a:ext cx="256032" cy="256032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19385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84064" y="19110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feature set ablations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84064" y="21579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Sets A/B/C from 03_feature_engineering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09160" y="2615184"/>
            <a:ext cx="256032" cy="256032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09160" y="26151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84064" y="25877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XGBoost + LightGBM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84064" y="28346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OOF blend may improve AUC 1–2pp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09160" y="3291840"/>
            <a:ext cx="256032" cy="256032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84064" y="32644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probabilities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84064" y="351129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Platt scaling or isotonic regression if deployment targeted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685</Words>
  <Application>Microsoft Macintosh PowerPoint</Application>
  <PresentationFormat>On-screen Show (16:9)</PresentationFormat>
  <Paragraphs>155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Flu Shot Learning — Analytical Findings</dc:title>
  <dc:subject>PptxGenJS Presentation</dc:subject>
  <dc:creator>PptxGenJS</dc:creator>
  <cp:lastModifiedBy>Jarret Angbazo</cp:lastModifiedBy>
  <cp:revision>2</cp:revision>
  <dcterms:created xsi:type="dcterms:W3CDTF">2026-05-23T13:29:18Z</dcterms:created>
  <dcterms:modified xsi:type="dcterms:W3CDTF">2026-05-28T08:18:21Z</dcterms:modified>
</cp:coreProperties>
</file>